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20">
                <a:solidFill>
                  <a:srgbClr val="F5A11E"/>
                </a:solidFill>
                <a:latin typeface="Montserrat"/>
              </a:rPr>
              <a:t>AI DECISIONING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6C2EDA"/>
                </a:solidFill>
                <a:latin typeface="Montserrat"/>
              </a:rPr>
              <a:t>Commercials for Blue Light Card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977639"/>
            <a:ext cx="2011680" cy="54864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55C69"/>
                </a:solidFill>
                <a:latin typeface="Mulish"/>
              </a:rPr>
              <a:t>Year-one investment, cost structure &amp; path to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60">
                <a:solidFill>
                  <a:srgbClr val="8A909C"/>
                </a:solidFill>
                <a:latin typeface="Mulish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6C2EDA"/>
                </a:solidFill>
                <a:latin typeface="Montserrat"/>
              </a:rPr>
              <a:t>Mutual action plan to go-live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Foundations are complete. Next is commercial alignment and executive sign-off to lock the Nov 2026 implementation slot.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55648"/>
          <a:ext cx="11091672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5879592"/>
                <a:gridCol w="1554480"/>
                <a:gridCol w="13716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64008" marR="45720" marT="18288" marB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ontserrat"/>
                        </a:rPr>
                        <a:t>Milestone</a:t>
                      </a:r>
                    </a:p>
                  </a:txBody>
                  <a:tcPr anchor="ctr" marL="64008" marR="45720" marT="18288" marB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ontserrat"/>
                        </a:rPr>
                        <a:t>Owner</a:t>
                      </a:r>
                    </a:p>
                  </a:txBody>
                  <a:tcPr anchor="ctr" marL="64008" marR="45720" marT="18288" marB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ontserrat"/>
                        </a:rPr>
                        <a:t>Target</a:t>
                      </a:r>
                    </a:p>
                  </a:txBody>
                  <a:tcPr anchor="ctr" marL="64008" marR="45720" marT="18288" marB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ontserrat"/>
                        </a:rPr>
                        <a:t>Status</a:t>
                      </a:r>
                    </a:p>
                  </a:txBody>
                  <a:tcPr anchor="ctr" marL="64008" marR="45720" marT="18288" marB="18288">
                    <a:solidFill>
                      <a:srgbClr val="6C2E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1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Priority use case identified — Engagement (absorbs re-engagement + cross-cat)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BLC + Braze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27 May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1E9E6A"/>
                          </a:solidFill>
                          <a:latin typeface="Mulish"/>
                        </a:rPr>
                        <a:t>✓ Completed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2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Business case &amp; impact model built (£4.37M target run-rate)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Braze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27 May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1E9E6A"/>
                          </a:solidFill>
                          <a:latin typeface="Mulish"/>
                        </a:rPr>
                        <a:t>✓ Completed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3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Data validation &amp; audience sizing (4.2M MAU)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BLC + Braze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27 May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1E9E6A"/>
                          </a:solidFill>
                          <a:latin typeface="Mulish"/>
                        </a:rPr>
                        <a:t>✓ Completed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4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Customer Readiness Assessment (CRA) — in-flight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Braze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16 Jun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F5A11E"/>
                          </a:solidFill>
                          <a:latin typeface="Mulish"/>
                        </a:rPr>
                        <a:t>● In flight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5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Commercial proposal &amp; cost structure shared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Braze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17 Jun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6C2EDA"/>
                          </a:solidFill>
                          <a:latin typeface="Mulish"/>
                        </a:rPr>
                        <a:t>● Today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6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Lifecycle team review model &amp; price → internal alignment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BLC (Marie)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w/c 23 Jun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8A909C"/>
                          </a:solidFill>
                          <a:latin typeface="Mulish"/>
                        </a:rPr>
                        <a:t>Upcoming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7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Executive review — Director of Data, CPO, Head of Engineering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BLC + Braze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w/c 23 Jun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8A909C"/>
                          </a:solidFill>
                          <a:latin typeface="Mulish"/>
                        </a:rPr>
                        <a:t>Upcoming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8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Finance approval (if incremental budget required)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BLC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early Jul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8A909C"/>
                          </a:solidFill>
                          <a:latin typeface="Mulish"/>
                        </a:rPr>
                        <a:t>Upcoming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9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Go / No-Go decision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BLC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by mid-Jul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8A909C"/>
                          </a:solidFill>
                          <a:latin typeface="Mulish"/>
                        </a:rPr>
                        <a:t>Upcoming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10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Order form finalised &amp; signature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BLC + Braze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late Jul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8A909C"/>
                          </a:solidFill>
                          <a:latin typeface="Mulish"/>
                        </a:rPr>
                        <a:t>Upcoming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11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Implementation kickoff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Braze + BLC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November 2026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8A909C"/>
                          </a:solidFill>
                          <a:latin typeface="Mulish"/>
                        </a:rPr>
                        <a:t>Upcoming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12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202228"/>
                          </a:solidFill>
                          <a:latin typeface="Mulish"/>
                        </a:rPr>
                        <a:t>Go live — Engagement engine in production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Braze + BLC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 i="0">
                          <a:solidFill>
                            <a:srgbClr val="555C69"/>
                          </a:solidFill>
                          <a:latin typeface="Mulish"/>
                        </a:rPr>
                        <a:t>February 2027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 i="0">
                          <a:solidFill>
                            <a:srgbClr val="8A909C"/>
                          </a:solidFill>
                          <a:latin typeface="Mulish"/>
                        </a:rPr>
                        <a:t>Upcoming</a:t>
                      </a:r>
                    </a:p>
                  </a:txBody>
                  <a:tcPr anchor="ctr" marL="64008" marR="45720" marT="9144" marB="9144">
                    <a:solidFill>
                      <a:srgbClr val="F6F2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42431"/>
            <a:ext cx="110944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0" i="1">
                <a:solidFill>
                  <a:srgbClr val="8A909C"/>
                </a:solidFill>
                <a:latin typeface="Mulish"/>
              </a:rPr>
              <a:t>Note: BLC's current Braze contract was renewed Jan 2026 ($1M+). Decisioning Studio is net-new on top of that contract.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8899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5A11E"/>
                </a:solidFill>
                <a:latin typeface="Montserrat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C2EDA"/>
                </a:solidFill>
                <a:latin typeface="Montserrat"/>
              </a:rPr>
              <a:t>Year-one investment — Engagement proof of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Priced at the 4M-MAU tier — sign by 17 July to lock the early-sign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75687"/>
            <a:ext cx="5532120" cy="3611880"/>
          </a:xfrm>
          <a:prstGeom prst="roundRect">
            <a:avLst>
              <a:gd name="adj" fmla="val 5000"/>
            </a:avLst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7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F5A11E"/>
                </a:solidFill>
                <a:latin typeface="Montserrat"/>
              </a:rPr>
              <a:t>35% PARTNERSHIP DISCOUNT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34055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C2F2"/>
                </a:solidFill>
                <a:latin typeface="Mulish"/>
              </a:rPr>
              <a:t>List price  </a:t>
            </a:r>
            <a:r>
              <a:rPr sz="1200" b="1" i="0">
                <a:solidFill>
                  <a:srgbClr val="CFC2F2"/>
                </a:solidFill>
                <a:latin typeface="Mulish"/>
              </a:rPr>
              <a:t>$409,000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7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$264,000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04164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11E"/>
                </a:solidFill>
                <a:latin typeface="Montserrat"/>
              </a:rPr>
              <a:t>USD   ≈ £200,000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471416"/>
            <a:ext cx="48737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3DBFA"/>
                </a:solidFill>
                <a:latin typeface="Mulish"/>
              </a:rPr>
              <a:t>All-in annual fee — technology subscription plus a dedicated forward-deployed AI expert team for year 1. Sign by 17 July to lock this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93975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C2EDA"/>
                </a:solidFill>
                <a:latin typeface="Montserrat"/>
              </a:rPr>
              <a:t>Price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523743"/>
            <a:ext cx="345917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02228"/>
                </a:solidFill>
                <a:latin typeface="Montserrat"/>
              </a:rPr>
              <a:t>AI Expert Services</a:t>
            </a:r>
          </a:p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8A909C"/>
                </a:solidFill>
                <a:latin typeface="Mulish"/>
              </a:rPr>
              <a:t>forward-deployed eng.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2523743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202228"/>
                </a:solidFill>
                <a:latin typeface="Montserrat"/>
              </a:rPr>
              <a:t>$100,000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962655"/>
            <a:ext cx="5196535" cy="1097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026663"/>
            <a:ext cx="345917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02228"/>
                </a:solidFill>
                <a:latin typeface="Montserrat"/>
              </a:rPr>
              <a:t>Use Case</a:t>
            </a:r>
          </a:p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8A909C"/>
                </a:solidFill>
                <a:latin typeface="Mulish"/>
              </a:rP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1415" y="3026663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202228"/>
                </a:solidFill>
                <a:latin typeface="Montserrat"/>
              </a:rPr>
              <a:t>$175,000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465575"/>
            <a:ext cx="5196535" cy="1097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3529583"/>
            <a:ext cx="345917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02228"/>
                </a:solidFill>
                <a:latin typeface="Montserrat"/>
              </a:rPr>
              <a:t>Audience entitlement</a:t>
            </a:r>
          </a:p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8A909C"/>
                </a:solidFill>
                <a:latin typeface="Mulish"/>
              </a:rPr>
              <a:t>4M-MAU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1415" y="3529583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202228"/>
                </a:solidFill>
                <a:latin typeface="Montserrat"/>
              </a:rPr>
              <a:t>$134,000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968495"/>
            <a:ext cx="5196535" cy="1097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032503"/>
            <a:ext cx="345917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5C69"/>
                </a:solidFill>
                <a:latin typeface="Mulish"/>
              </a:rPr>
              <a:t>List 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1415" y="4032503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555C69"/>
                </a:solidFill>
                <a:latin typeface="Montserrat"/>
              </a:rPr>
              <a:t>$409,000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471415"/>
            <a:ext cx="5196535" cy="1097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4535423"/>
            <a:ext cx="345917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5A11E"/>
                </a:solidFill>
                <a:latin typeface="Mulish"/>
              </a:rPr>
              <a:t>Partnership discount (35%)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415" y="4535423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F5A11E"/>
                </a:solidFill>
                <a:latin typeface="Montserrat"/>
              </a:rPr>
              <a:t>–$145,000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974335"/>
            <a:ext cx="5196535" cy="1097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4974335"/>
            <a:ext cx="5196535" cy="539496"/>
          </a:xfrm>
          <a:prstGeom prst="roundRect">
            <a:avLst>
              <a:gd name="adj" fmla="val 10000"/>
            </a:avLst>
          </a:prstGeom>
          <a:solidFill>
            <a:srgbClr val="F6F2FE"/>
          </a:solidFill>
          <a:ln w="15875">
            <a:solidFill>
              <a:srgbClr val="6C2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5038343"/>
            <a:ext cx="345917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C2EDA"/>
                </a:solidFill>
                <a:latin typeface="Montserrat"/>
              </a:rPr>
              <a:t>Year-one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1415" y="5038343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6C2EDA"/>
                </a:solidFill>
                <a:latin typeface="Montserrat"/>
              </a:rPr>
              <a:t>$264,000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8899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5A11E"/>
                </a:solidFill>
                <a:latin typeface="Montserrat"/>
              </a:rPr>
              <a:t>08 · COMMERCIAL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6C2EDA"/>
                </a:solidFill>
                <a:latin typeface="Montserrat"/>
              </a:rPr>
              <a:t>Your cost structure, broken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One indivisible all-in fee — three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01368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39696"/>
            <a:ext cx="3484778" cy="2697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39696"/>
            <a:ext cx="3484778" cy="109728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459736"/>
            <a:ext cx="566928" cy="566928"/>
          </a:xfrm>
          <a:prstGeom prst="ellipse">
            <a:avLst/>
          </a:prstGeom>
          <a:solidFill>
            <a:srgbClr val="F6F2FE"/>
          </a:solidFill>
          <a:ln w="15875">
            <a:solidFill>
              <a:srgbClr val="6C2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68879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C2EDA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63824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C2EDA"/>
                </a:solidFill>
                <a:latin typeface="Montserrat"/>
              </a:rPr>
              <a:t>AI Expert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621024"/>
            <a:ext cx="295442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C69"/>
                </a:solidFill>
                <a:latin typeface="Mulish"/>
              </a:rPr>
              <a:t>Embedded ML experts who design, configure, tune and monitor your use case — at launch and ongoing.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2139696"/>
            <a:ext cx="3484778" cy="2697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3458" y="2139696"/>
            <a:ext cx="3484778" cy="109728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09490" y="2459736"/>
            <a:ext cx="566928" cy="566928"/>
          </a:xfrm>
          <a:prstGeom prst="ellipse">
            <a:avLst/>
          </a:prstGeom>
          <a:solidFill>
            <a:srgbClr val="F6F2FE"/>
          </a:solidFill>
          <a:ln w="15875">
            <a:solidFill>
              <a:srgbClr val="6C2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9490" y="2468879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C2EDA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7778" y="3163824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C2EDA"/>
                </a:solidFill>
                <a:latin typeface="Montserrat"/>
              </a:rPr>
              <a:t>Use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7778" y="3621024"/>
            <a:ext cx="295442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C69"/>
                </a:solidFill>
                <a:latin typeface="Mulish"/>
              </a:rPr>
              <a:t>One fully-configured, live RL use case optimised 1:1 across your audience. Additional cases are land-and-expand (~$300K each).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2139696"/>
            <a:ext cx="3484778" cy="2697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8276" y="2139696"/>
            <a:ext cx="3484778" cy="109728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4308" y="2459736"/>
            <a:ext cx="566928" cy="566928"/>
          </a:xfrm>
          <a:prstGeom prst="ellipse">
            <a:avLst/>
          </a:prstGeom>
          <a:solidFill>
            <a:srgbClr val="F6F2FE"/>
          </a:solidFill>
          <a:ln w="15875">
            <a:solidFill>
              <a:srgbClr val="6C2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4308" y="2468879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6C2EDA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596" y="3163824"/>
            <a:ext cx="293613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6C2EDA"/>
                </a:solidFill>
                <a:latin typeface="Montserrat"/>
              </a:rPr>
              <a:t>Audience Entitlement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596" y="3621024"/>
            <a:ext cx="295442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C69"/>
                </a:solidFill>
                <a:latin typeface="Mulish"/>
              </a:rPr>
              <a:t>Annual entitlement on a monthly-average audience; flexes month to month and is revisited at renewal — not metered with immediate overages.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38344"/>
            <a:ext cx="11094415" cy="786384"/>
          </a:xfrm>
          <a:prstGeom prst="roundRect">
            <a:avLst>
              <a:gd name="adj" fmla="val 5000"/>
            </a:avLst>
          </a:prstGeom>
          <a:solidFill>
            <a:srgbClr val="F6F2FE"/>
          </a:solidFill>
          <a:ln w="12700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038344"/>
            <a:ext cx="91440" cy="786384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148072"/>
            <a:ext cx="1054577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6C2EDA"/>
                </a:solidFill>
                <a:latin typeface="Montserrat"/>
              </a:rPr>
              <a:t>Commercial anchor:  </a:t>
            </a:r>
            <a:r>
              <a:rPr sz="1150" b="0" i="0">
                <a:solidFill>
                  <a:srgbClr val="202228"/>
                </a:solidFill>
                <a:latin typeface="Mulish"/>
              </a:rPr>
              <a:t>a single, indivisible all-in fee per use case. BLC's 4.2M MAU sits at the 4M-MAU tier ($134K). Additional use cases are land-and-expand ~$300K each; audience entitlement is shared.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6C2EDA"/>
                </a:solidFill>
                <a:latin typeface="Montserrat"/>
              </a:rPr>
              <a:t>What your AI Expert Services team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Forward-deployed ML experts embedded alongside your team — required at launch AND for the entire life of the use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64327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3063240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2EDA"/>
                </a:solidFill>
                <a:latin typeface="Montserrat"/>
              </a:rPr>
              <a:t>At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42032"/>
            <a:ext cx="4797399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Design the use case: action bank, reward signal, exploration parameters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Set up the holdout and integrate your data feeds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Configure, train and tune the model; run pre-go-live testing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Stand up live reporting and agree the success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5364327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91440" cy="306324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205740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228"/>
                </a:solidFill>
                <a:latin typeface="Montserrat"/>
              </a:rPr>
              <a:t>Ongoing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2542032"/>
            <a:ext cx="4797399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Continuously tune the model as behaviour and seasonality shift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Monitor controls and dimensions; troubleshoot and course-correct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Add and test new dimensions, actions and creative to unlock fresh value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Quarterly reviews and expansion: value keeps compounding years in, not just at go-live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C2EDA"/>
                </a:solidFill>
                <a:latin typeface="Montserrat"/>
              </a:rPr>
              <a:t>One use case, one annual fee.  </a:t>
            </a:r>
            <a:r>
              <a:rPr sz="1100" b="0" i="0">
                <a:solidFill>
                  <a:srgbClr val="555C69"/>
                </a:solidFill>
                <a:latin typeface="Mulish"/>
              </a:rPr>
              <a:t>AI Expert Services, the Use Case and Audience are three SKUs but a single, indivisible all-in price required at launch and ongoing.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6C2EDA"/>
                </a:solidFill>
                <a:latin typeface="Montserrat"/>
              </a:rPr>
              <a:t>How your audience is measured &amp; billed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Annual entitlement, priced on a monthly average — designed to flex, not to penalise.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64327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3063240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2EDA"/>
                </a:solidFill>
                <a:latin typeface="Montserrat"/>
              </a:rPr>
              <a:t>How it's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42032"/>
            <a:ext cx="4797399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Measured daily — audience size tracked every day, per use case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Calculated as a monthly average — averaged over the year to give the audience size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Charged annually — that average monthly audience is charged once a year; runs over and under with seasonality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5364327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91440" cy="306324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2057400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228"/>
                </a:solidFill>
                <a:latin typeface="Montserrat"/>
              </a:rPr>
              <a:t>How it's billed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2542032"/>
            <a:ext cx="4797399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Annual entitlement — invoiced annually, not a monthly charge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Not like message credits — no immediate overage when a month runs high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Right-sized at renewal — we review and reset the tier together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1" i="0">
                <a:solidFill>
                  <a:srgbClr val="F5A11E"/>
                </a:solidFill>
                <a:latin typeface="Mulish"/>
              </a:rPr>
              <a:t>•  </a:t>
            </a:r>
            <a:r>
              <a:rPr sz="1150" b="0" i="0">
                <a:solidFill>
                  <a:srgbClr val="555C69"/>
                </a:solidFill>
                <a:latin typeface="Mulish"/>
              </a:rPr>
              <a:t>Standard policy — overages (1.25× rate) only if you run materially above,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C2EDA"/>
                </a:solidFill>
                <a:latin typeface="Montserrat"/>
              </a:rPr>
              <a:t>Built-in headroom:  </a:t>
            </a:r>
            <a:r>
              <a:rPr sz="1100" b="0" i="0">
                <a:solidFill>
                  <a:srgbClr val="555C69"/>
                </a:solidFill>
                <a:latin typeface="Mulish"/>
              </a:rPr>
              <a:t>your 4M tier sits at the audience level of BLC's 4.2M MAU base — comfortable for normal seasonality.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8899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5A11E"/>
                </a:solidFill>
                <a:latin typeface="Montserrat"/>
              </a:rPr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C2EDA"/>
                </a:solidFill>
                <a:latin typeface="Montserrat"/>
              </a:rPr>
              <a:t>Engagement — path to ROI, 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Cumulative incremental value clears break-even by May 2027, inside Year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983539"/>
            <a:ext cx="11002975" cy="16459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0921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A11E"/>
                </a:solidFill>
                <a:latin typeface="Montserrat"/>
              </a:rPr>
              <a:t>Break-even · $264k subscription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4419" y="4498848"/>
            <a:ext cx="476795" cy="2743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539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Nov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1334" y="4498848"/>
            <a:ext cx="476795" cy="2743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48454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Dec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8248" y="4498848"/>
            <a:ext cx="476795" cy="2743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5368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Jan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5163" y="4456381"/>
            <a:ext cx="476795" cy="69898"/>
          </a:xfrm>
          <a:prstGeom prst="rect">
            <a:avLst/>
          </a:prstGeom>
          <a:solidFill>
            <a:srgbClr val="B9A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8003" y="4218637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0.1×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2283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Feb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2077" y="4316584"/>
            <a:ext cx="476795" cy="209695"/>
          </a:xfrm>
          <a:prstGeom prst="rect">
            <a:avLst/>
          </a:prstGeom>
          <a:solidFill>
            <a:srgbClr val="B9A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4917" y="4078840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0.4×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9197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Mar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8992" y="4104833"/>
            <a:ext cx="476795" cy="421446"/>
          </a:xfrm>
          <a:prstGeom prst="rect">
            <a:avLst/>
          </a:prstGeom>
          <a:solidFill>
            <a:srgbClr val="B9A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1832" y="3867089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0.8×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6112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Apr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907" y="3825240"/>
            <a:ext cx="476795" cy="701040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8747" y="3587496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1.3×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3027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May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2821" y="3545646"/>
            <a:ext cx="476795" cy="980633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661" y="3307902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1.8×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9941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Jun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9736" y="3263996"/>
            <a:ext cx="476795" cy="1262283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2576" y="3026252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2.3×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6856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Jul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6650" y="2984403"/>
            <a:ext cx="476795" cy="1541876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9490" y="2746659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2.8×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3770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Aug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83565" y="2702753"/>
            <a:ext cx="476795" cy="1823526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46405" y="2465009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3.4×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0685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Sep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00480" y="2423160"/>
            <a:ext cx="476795" cy="2103120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63320" y="2185416"/>
            <a:ext cx="7511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228"/>
                </a:solidFill>
                <a:latin typeface="Montserrat"/>
              </a:rPr>
              <a:t>3.9×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7600" y="4572000"/>
            <a:ext cx="8425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228"/>
                </a:solidFill>
                <a:latin typeface="Mulish"/>
              </a:rPr>
              <a:t>Oct</a:t>
            </a:r>
          </a:p>
          <a:p>
            <a:pPr algn="ctr">
              <a:spcBef>
                <a:spcPts val="0"/>
              </a:spcBef>
            </a:pPr>
            <a:r>
              <a:rPr sz="750" b="0" i="0">
                <a:solidFill>
                  <a:srgbClr val="8A909C"/>
                </a:solidFill>
                <a:latin typeface="Mulish"/>
              </a:rPr>
              <a:t>M12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526280"/>
            <a:ext cx="11002975" cy="10972"/>
          </a:xfrm>
          <a:prstGeom prst="rect">
            <a:avLst/>
          </a:prstGeom>
          <a:solidFill>
            <a:srgbClr val="E7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48640" y="5093208"/>
          <a:ext cx="11094408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829284"/>
                <a:gridCol w="829284"/>
                <a:gridCol w="829284"/>
                <a:gridCol w="829284"/>
                <a:gridCol w="829284"/>
                <a:gridCol w="829284"/>
                <a:gridCol w="829284"/>
                <a:gridCol w="829284"/>
                <a:gridCol w="829284"/>
                <a:gridCol w="829284"/>
                <a:gridCol w="829284"/>
                <a:gridCol w="829284"/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02228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M1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M2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M3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M4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M5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M6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M7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M8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M9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M10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M11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Montserrat"/>
                        </a:rPr>
                        <a:t>M12</a:t>
                      </a:r>
                    </a:p>
                  </a:txBody>
                  <a:tcPr anchor="ctr" marL="27432" marR="27432" marT="0" marB="0">
                    <a:solidFill>
                      <a:srgbClr val="6C2ED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6C2EDA"/>
                          </a:solidFill>
                          <a:latin typeface="Montserrat"/>
                        </a:rPr>
                        <a:t>Value / mo</a:t>
                      </a:r>
                    </a:p>
                  </a:txBody>
                  <a:tcPr anchor="ctr" marL="54864" marR="18288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$34k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$68k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$102k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$136k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$136k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$136k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$136k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$136k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202228"/>
                          </a:solidFill>
                          <a:latin typeface="Mulish"/>
                        </a:rPr>
                        <a:t>$136k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6C2EDA"/>
                          </a:solidFill>
                          <a:latin typeface="Montserrat"/>
                        </a:rPr>
                        <a:t>ROI</a:t>
                      </a:r>
                    </a:p>
                  </a:txBody>
                  <a:tcPr anchor="ctr" marL="54864" marR="18288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–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–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–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0.1×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0.4×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0.8×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1.3×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1.8×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2.3×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2.8×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3.4×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6C2EDA"/>
                          </a:solidFill>
                          <a:latin typeface="Mulish"/>
                        </a:rPr>
                        <a:t>3.9×</a:t>
                      </a:r>
                    </a:p>
                  </a:txBody>
                  <a:tcPr anchor="ctr" marL="18288" marR="18288" marT="0" marB="0">
                    <a:solidFill>
                      <a:srgbClr val="FA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6C2EDA"/>
                          </a:solidFill>
                          <a:latin typeface="Montserrat"/>
                        </a:rPr>
                        <a:t>Cost / mo</a:t>
                      </a:r>
                    </a:p>
                  </a:txBody>
                  <a:tcPr anchor="ctr" marL="54864" marR="18288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548640" y="6355080"/>
            <a:ext cx="110944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0" i="1">
                <a:solidFill>
                  <a:srgbClr val="8A909C"/>
                </a:solidFill>
                <a:latin typeface="Mulish"/>
              </a:rPr>
              <a:t>Cumulative value in USD at the target lift ($1.64M annual run-rate ÷ 12 ≈ $136k/month). Audience ramps 25%→50%→75%→100% across Feb–May 2027. ROI vs $264k early-sign subscription; at $317k standard rate, year-end ROI is 3.2×. FX £1 = $1.32 (30 Jun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6C2EDA"/>
                </a:solidFill>
                <a:latin typeface="Montserrat"/>
              </a:rPr>
              <a:t>ROI compounds as the model trains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Year-1 ramps to full run-rate; the subscription stays flat (Engagement · Target)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3484778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47088"/>
            <a:ext cx="3484778" cy="109728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293613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C2EDA"/>
                </a:solidFill>
                <a:latin typeface="Montserrat"/>
              </a:rPr>
              <a:t>Year 1  (ramp)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05456"/>
            <a:ext cx="293613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02228"/>
                </a:solidFill>
                <a:latin typeface="Montserrat"/>
              </a:rPr>
              <a:t>$1.09M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145536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11E"/>
                </a:solidFill>
                <a:latin typeface="Montserrat"/>
              </a:rPr>
              <a:t>≈ £825,000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511296"/>
            <a:ext cx="291785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55C69"/>
                </a:solidFill>
                <a:latin typeface="Mulish"/>
              </a:rPr>
              <a:t>In-year 2027 value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555C69"/>
                </a:solidFill>
                <a:latin typeface="Mulish"/>
              </a:rPr>
              <a:t>Feb go-live, partial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847088"/>
            <a:ext cx="3484778" cy="2331720"/>
          </a:xfrm>
          <a:prstGeom prst="roundRect">
            <a:avLst>
              <a:gd name="adj" fmla="val 5000"/>
            </a:avLst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6066" y="2121408"/>
            <a:ext cx="293613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11E"/>
                </a:solidFill>
                <a:latin typeface="Montserrat"/>
              </a:rPr>
              <a:t>Year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2505456"/>
            <a:ext cx="293613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ontserrat"/>
              </a:rPr>
              <a:t>$1.64M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210" y="3145536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11E"/>
                </a:solidFill>
                <a:latin typeface="Montserrat"/>
              </a:rPr>
              <a:t>≈ £1.24M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511296"/>
            <a:ext cx="291785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3DBFA"/>
                </a:solidFill>
                <a:latin typeface="Mulish"/>
              </a:rPr>
              <a:t>Full run-rate incremental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E3DBFA"/>
                </a:solidFill>
                <a:latin typeface="Mulish"/>
              </a:rPr>
              <a:t>value over BAU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6" y="1847088"/>
            <a:ext cx="3484778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276" y="1847088"/>
            <a:ext cx="3484778" cy="109728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0884" y="2121408"/>
            <a:ext cx="293613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C2EDA"/>
                </a:solidFill>
                <a:latin typeface="Montserrat"/>
              </a:rPr>
              <a:t>Year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2505456"/>
            <a:ext cx="293613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02228"/>
                </a:solidFill>
                <a:latin typeface="Montserrat"/>
              </a:rPr>
              <a:t>$1.64M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0028" y="3145536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11E"/>
                </a:solidFill>
                <a:latin typeface="Montserrat"/>
              </a:rPr>
              <a:t>≈ £1.24M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0028" y="3511296"/>
            <a:ext cx="291785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55C69"/>
                </a:solidFill>
                <a:latin typeface="Mulish"/>
              </a:rPr>
              <a:t>Full run-rate continues;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555C69"/>
                </a:solidFill>
                <a:latin typeface="Mulish"/>
              </a:rPr>
              <a:t>subscription unchanged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79976"/>
            <a:ext cx="3484778" cy="841248"/>
          </a:xfrm>
          <a:prstGeom prst="roundRect">
            <a:avLst>
              <a:gd name="adj" fmla="val 6000"/>
            </a:avLst>
          </a:prstGeom>
          <a:solidFill>
            <a:srgbClr val="F6F2FE"/>
          </a:solidFill>
          <a:ln w="12700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507992"/>
            <a:ext cx="293613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C2EDA"/>
                </a:solidFill>
                <a:latin typeface="Montserrat"/>
              </a:rPr>
              <a:t>$264,000   </a:t>
            </a:r>
            <a:r>
              <a:rPr sz="1050" b="0" i="0">
                <a:solidFill>
                  <a:srgbClr val="555C69"/>
                </a:solidFill>
                <a:latin typeface="Mulish"/>
              </a:rPr>
              <a:t>Subscription · year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3458" y="4379976"/>
            <a:ext cx="3484778" cy="841248"/>
          </a:xfrm>
          <a:prstGeom prst="roundRect">
            <a:avLst>
              <a:gd name="adj" fmla="val 6000"/>
            </a:avLst>
          </a:prstGeom>
          <a:solidFill>
            <a:srgbClr val="F6F2FE"/>
          </a:solidFill>
          <a:ln w="12700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7778" y="4507992"/>
            <a:ext cx="293613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C2EDA"/>
                </a:solidFill>
                <a:latin typeface="Montserrat"/>
              </a:rPr>
              <a:t>4.1×   </a:t>
            </a:r>
            <a:r>
              <a:rPr sz="1050" b="0" i="0">
                <a:solidFill>
                  <a:srgbClr val="555C69"/>
                </a:solidFill>
                <a:latin typeface="Mulish"/>
              </a:rPr>
              <a:t>Year 1 ROI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8276" y="4379976"/>
            <a:ext cx="3484778" cy="841248"/>
          </a:xfrm>
          <a:prstGeom prst="roundRect">
            <a:avLst>
              <a:gd name="adj" fmla="val 6000"/>
            </a:avLst>
          </a:prstGeom>
          <a:solidFill>
            <a:srgbClr val="F6F2FE"/>
          </a:solidFill>
          <a:ln w="12700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596" y="4507992"/>
            <a:ext cx="293613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C2EDA"/>
                </a:solidFill>
                <a:latin typeface="Montserrat"/>
              </a:rPr>
              <a:t>6.2×   </a:t>
            </a:r>
            <a:r>
              <a:rPr sz="1050" b="0" i="0">
                <a:solidFill>
                  <a:srgbClr val="555C69"/>
                </a:solidFill>
                <a:latin typeface="Mulish"/>
              </a:rPr>
              <a:t>Year 2 / 3 ROI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110944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0" i="1">
                <a:solidFill>
                  <a:srgbClr val="8A909C"/>
                </a:solidFill>
                <a:latin typeface="Mulish"/>
              </a:rPr>
              <a:t>ROI = annual incremental value ÷ year-1 subscription. Shown at $264k early-sign rate. At $317k standard rate (after 17 July): Year 1 = 3.4×, Year 2/3 = 5.2×. Low case ($493k run-rate): Year 2 ROI 1.9× / 1.6×. RL models improve at maximising the reward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6C2EDA"/>
                </a:solidFill>
                <a:latin typeface="Montserrat"/>
              </a:rPr>
              <a:t>How we get to 2.3× ROI by July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ROI multiple = cumulative incremental value to date ÷ annual subscription. Build, month by month.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90472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94415" cy="566928"/>
          </a:xfrm>
          <a:prstGeom prst="roundRect">
            <a:avLst>
              <a:gd name="adj" fmla="val 6000"/>
            </a:avLst>
          </a:prstGeom>
          <a:solidFill>
            <a:srgbClr val="F6F2FE"/>
          </a:solidFill>
          <a:ln w="12700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C2EDA"/>
                </a:solidFill>
                <a:latin typeface="Montserrat"/>
              </a:rPr>
              <a:t>ROI multiple   =   </a:t>
            </a:r>
            <a:r>
              <a:rPr sz="1300" b="0" i="0">
                <a:solidFill>
                  <a:srgbClr val="202228"/>
                </a:solidFill>
                <a:latin typeface="Mulish"/>
              </a:rPr>
              <a:t>cumulative incremental value to date   ÷   annual subscription ($264,000)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11094408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044752"/>
                <a:gridCol w="1044752"/>
                <a:gridCol w="1044752"/>
                <a:gridCol w="1044752"/>
                <a:gridCol w="1044752"/>
                <a:gridCol w="1044752"/>
                <a:gridCol w="1044752"/>
                <a:gridCol w="1044752"/>
                <a:gridCol w="10447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ontserrat"/>
                        </a:rPr>
                        <a:t>Month</a:t>
                      </a:r>
                    </a:p>
                  </a:txBody>
                  <a:tcPr anchor="ctr" marL="73152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Nov M1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Dec M2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Jan M3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Feb M4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Mar M5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Apr M6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May M7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Jun M8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Mulish"/>
                        </a:rPr>
                        <a:t>Jul M9</a:t>
                      </a:r>
                    </a:p>
                  </a:txBody>
                  <a:tcPr anchor="ctr" marL="18288" marR="18288">
                    <a:solidFill>
                      <a:srgbClr val="6C2E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6C2EDA"/>
                          </a:solidFill>
                          <a:latin typeface="Montserrat"/>
                        </a:rPr>
                        <a:t>Value that month</a:t>
                      </a:r>
                    </a:p>
                  </a:txBody>
                  <a:tcPr anchor="ctr" marL="73152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$32k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$65k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$97k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$129k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$129k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02228"/>
                          </a:solidFill>
                          <a:latin typeface="Mulish"/>
                        </a:rPr>
                        <a:t>$129k</a:t>
                      </a:r>
                    </a:p>
                  </a:txBody>
                  <a:tcPr anchor="ctr" marL="18288" marR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6C2EDA"/>
                          </a:solidFill>
                          <a:latin typeface="Montserrat"/>
                        </a:rPr>
                        <a:t>Cumulative value</a:t>
                      </a:r>
                    </a:p>
                  </a:txBody>
                  <a:tcPr anchor="ctr" marL="73152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$32k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$97k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$193k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$323k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$451k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C2EDA"/>
                          </a:solidFill>
                          <a:latin typeface="Mulish"/>
                        </a:rPr>
                        <a:t>$580k</a:t>
                      </a:r>
                    </a:p>
                  </a:txBody>
                  <a:tcPr anchor="ctr" marL="18288" marR="18288"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02336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6C2EDA"/>
          </a:solidFill>
          <a:ln w="12700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Montserrat"/>
              </a:rPr>
              <a:t>$614,000</a:t>
            </a:r>
            <a:r>
              <a:rPr sz="2000" b="0" i="0">
                <a:solidFill>
                  <a:srgbClr val="CFC2F2"/>
                </a:solidFill>
                <a:latin typeface="Montserrat"/>
              </a:rPr>
              <a:t>   ÷   </a:t>
            </a:r>
            <a:r>
              <a:rPr sz="2300" b="1" i="0">
                <a:solidFill>
                  <a:srgbClr val="FFFFFF"/>
                </a:solidFill>
                <a:latin typeface="Montserrat"/>
              </a:rPr>
              <a:t>$264,000</a:t>
            </a:r>
            <a:r>
              <a:rPr sz="2000" b="0" i="0">
                <a:solidFill>
                  <a:srgbClr val="CFC2F2"/>
                </a:solidFill>
                <a:latin typeface="Montserrat"/>
              </a:rPr>
              <a:t>   =   </a:t>
            </a:r>
            <a:r>
              <a:rPr sz="2600" b="1" i="0">
                <a:solidFill>
                  <a:srgbClr val="F5A11E"/>
                </a:solidFill>
                <a:latin typeface="Montserrat"/>
              </a:rPr>
              <a:t>2.3×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26864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D9CFF6"/>
                </a:solidFill>
                <a:latin typeface="Mulish"/>
              </a:rPr>
              <a:t>cumulative value to July 2027 (month 9)   ÷   annual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944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0" i="1">
                <a:solidFill>
                  <a:srgbClr val="8A909C"/>
                </a:solidFill>
                <a:latin typeface="Mulish"/>
              </a:rPr>
              <a:t>Run-rate value is $136,000/month (≈£103,000) ($1.64M target ÷ 12 — engagement use case, 27 May model). ROI shown at $264k early-sign price; at $317k standard rate, July 2027 ROI is 1.9×. Audience ramps 25%/50%/75% over Feb–Apr 2027.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C2EDA"/>
                </a:solidFill>
                <a:latin typeface="Montserrat"/>
              </a:rPr>
              <a:t>Cumulative cost vs. value — and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42416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5A11E"/>
                </a:solidFill>
                <a:latin typeface="Montserrat"/>
              </a:rPr>
              <a:t>Value compounds while the subscription accrues evenly — break-even May 2027, 3.9× year-end at the early-sign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72184"/>
            <a:ext cx="1188720" cy="45720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375" y="31089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202228"/>
                </a:solidFill>
                <a:latin typeface="Montserrat"/>
              </a:rPr>
              <a:t>Braze</a:t>
            </a:r>
            <a:r>
              <a:rPr sz="1700" b="1">
                <a:solidFill>
                  <a:srgbClr val="6C2EDA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8A909C"/>
                </a:solidFill>
                <a:latin typeface="Montserrat"/>
              </a:rPr>
              <a:t>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C"/>
                </a:solidFill>
                <a:latin typeface="Mulish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73936"/>
          <a:ext cx="11094408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806424"/>
                <a:gridCol w="806424"/>
                <a:gridCol w="806424"/>
                <a:gridCol w="806424"/>
                <a:gridCol w="806424"/>
                <a:gridCol w="806424"/>
                <a:gridCol w="806424"/>
                <a:gridCol w="806424"/>
                <a:gridCol w="806424"/>
                <a:gridCol w="806424"/>
                <a:gridCol w="806424"/>
                <a:gridCol w="806424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202228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Nov M1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Dec M2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Jan M3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Feb M4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Mar M5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Apr M6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May M7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Jun M8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Jul M9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Aug M10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Sep M11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Montserrat"/>
                        </a:rPr>
                        <a:t>Oct M12</a:t>
                      </a:r>
                    </a:p>
                  </a:txBody>
                  <a:tcPr anchor="ctr" marL="18288" marR="18288" marT="0" marB="0">
                    <a:solidFill>
                      <a:srgbClr val="6C2ED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6C2EDA"/>
                          </a:solidFill>
                          <a:latin typeface="Montserrat"/>
                        </a:rPr>
                        <a:t>Cum. value</a:t>
                      </a:r>
                    </a:p>
                  </a:txBody>
                  <a:tcPr anchor="ctr" marL="5486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$0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$34k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$102k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$205k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$341k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$477k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$614k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$750k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$887k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1E9E6A"/>
                          </a:solidFill>
                          <a:latin typeface="Mulish"/>
                        </a:rPr>
                        <a:t>$1,023k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6C2EDA"/>
                          </a:solidFill>
                          <a:latin typeface="Montserrat"/>
                        </a:rPr>
                        <a:t>Cum. cost</a:t>
                      </a:r>
                    </a:p>
                  </a:txBody>
                  <a:tcPr anchor="ctr" marL="5486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$22k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$44k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$66k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$88k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$110k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$132k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$154k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$176k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$198k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$220k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$242k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555C69"/>
                          </a:solidFill>
                          <a:latin typeface="Mulish"/>
                        </a:rPr>
                        <a:t>$264k</a:t>
                      </a:r>
                    </a:p>
                  </a:txBody>
                  <a:tcPr anchor="ctr" marL="9144" marR="9144" marT="0" marB="0">
                    <a:solidFill>
                      <a:srgbClr val="FA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6C2EDA"/>
                          </a:solidFill>
                          <a:latin typeface="Montserrat"/>
                        </a:rPr>
                        <a:t>ROI ×</a:t>
                      </a:r>
                    </a:p>
                  </a:txBody>
                  <a:tcPr anchor="ctr" marL="54864">
                    <a:solidFill>
                      <a:srgbClr val="F6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–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–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–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0.1×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0.4×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0.8×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1.3×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1.8×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2.3×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2.8×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3.4×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6C2EDA"/>
                          </a:solidFill>
                          <a:latin typeface="Mulish"/>
                        </a:rPr>
                        <a:t>3.9×</a:t>
                      </a:r>
                    </a:p>
                  </a:txBody>
                  <a:tcPr anchor="ctr" marL="9144" marR="9144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465576"/>
            <a:ext cx="351525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65576"/>
            <a:ext cx="82296" cy="1078992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61188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F5A11E"/>
                </a:solidFill>
                <a:latin typeface="Montserrat"/>
              </a:rPr>
              <a:t>BREAK-EVEN</a:t>
            </a:r>
          </a:p>
          <a:p>
            <a:pPr algn="l">
              <a:spcBef>
                <a:spcPts val="200"/>
              </a:spcBef>
            </a:pPr>
            <a:r>
              <a:rPr sz="1900" b="1" i="0">
                <a:solidFill>
                  <a:srgbClr val="6C2EDA"/>
                </a:solidFill>
                <a:latin typeface="Montserrat"/>
              </a:rPr>
              <a:t>May 2027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555C69"/>
                </a:solidFill>
                <a:latin typeface="Mulish"/>
              </a:rPr>
              <a:t>Month 7 — cum value crosses $264k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3465576"/>
            <a:ext cx="351525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3465576"/>
            <a:ext cx="82296" cy="1078992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361188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F5A11E"/>
                </a:solidFill>
                <a:latin typeface="Montserrat"/>
              </a:rPr>
              <a:t>YEAR-END</a:t>
            </a:r>
          </a:p>
          <a:p>
            <a:pPr algn="l">
              <a:spcBef>
                <a:spcPts val="200"/>
              </a:spcBef>
            </a:pPr>
            <a:r>
              <a:rPr sz="1900" b="1" i="0">
                <a:solidFill>
                  <a:srgbClr val="6C2EDA"/>
                </a:solidFill>
                <a:latin typeface="Montserrat"/>
              </a:rPr>
              <a:t>3.9× ROI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555C69"/>
                </a:solidFill>
                <a:latin typeface="Mulish"/>
              </a:rPr>
              <a:t>$1.02M cum value ÷ $264k subscription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3465576"/>
            <a:ext cx="351525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3465576"/>
            <a:ext cx="82296" cy="1078992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3828" y="361188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F5A11E"/>
                </a:solidFill>
                <a:latin typeface="Montserrat"/>
              </a:rPr>
              <a:t>YEAR 2 / 3</a:t>
            </a:r>
          </a:p>
          <a:p>
            <a:pPr algn="l">
              <a:spcBef>
                <a:spcPts val="200"/>
              </a:spcBef>
            </a:pPr>
            <a:r>
              <a:rPr sz="1900" b="1" i="0">
                <a:solidFill>
                  <a:srgbClr val="6C2EDA"/>
                </a:solidFill>
                <a:latin typeface="Montserrat"/>
              </a:rPr>
              <a:t>6.2× ROI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0" i="0">
                <a:solidFill>
                  <a:srgbClr val="555C69"/>
                </a:solidFill>
                <a:latin typeface="Mulish"/>
              </a:rPr>
              <a:t>$1.64M run-rate ÷ $264k subscription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72584"/>
            <a:ext cx="11094415" cy="676656"/>
          </a:xfrm>
          <a:prstGeom prst="roundRect">
            <a:avLst>
              <a:gd name="adj" fmla="val 5000"/>
            </a:avLst>
          </a:prstGeom>
          <a:solidFill>
            <a:srgbClr val="6C2EDA"/>
          </a:solidFill>
          <a:ln w="12700">
            <a:solidFill>
              <a:srgbClr val="E7E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72584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spc="100">
                <a:solidFill>
                  <a:srgbClr val="F5A11E"/>
                </a:solidFill>
                <a:latin typeface="Montserrat"/>
              </a:rPr>
              <a:t>THE ASK TODAY    </a:t>
            </a:r>
            <a:r>
              <a:rPr sz="1250" b="1" i="0">
                <a:solidFill>
                  <a:srgbClr val="FFFFFF"/>
                </a:solidFill>
                <a:latin typeface="Montserrat"/>
              </a:rPr>
              <a:t>Sign order form by 17 July to lock $264,000 → November 2026 kickoff → February 2027 go-live.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110944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750" b="0" i="1">
                <a:solidFill>
                  <a:srgbClr val="8A909C"/>
                </a:solidFill>
                <a:latin typeface="Mulish"/>
              </a:rPr>
              <a:t>All values in USD. Cum. value is incremental over BAU at the target lift (4.2M MAU × 20% × £3.00/conv × 5.1% lift = $1.64M annual run-rate). Cost shown linearly at $22k/mo. ROI at $264k early-sign; at $317k standard rate: year-end 3.2×, Year 2+ 5.2×. FX £1 = $1.32 (Morningstar, 30 Jun 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2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48495" y="3657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Montserrat"/>
              </a:rPr>
              <a:t>Braze</a:t>
            </a:r>
            <a:r>
              <a:rPr sz="1700" b="1">
                <a:solidFill>
                  <a:srgbClr val="F5A11E"/>
                </a:solidFill>
                <a:latin typeface="Montserrat"/>
              </a:rPr>
              <a:t>AI</a:t>
            </a:r>
            <a:r>
              <a:rPr sz="800" baseline="30000">
                <a:solidFill>
                  <a:srgbClr val="CFC2F2"/>
                </a:solidFill>
                <a:latin typeface="Montserrat"/>
              </a:rPr>
              <a:t>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Let’s lock the November slot.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657600"/>
            <a:ext cx="2011680" cy="54864"/>
          </a:xfrm>
          <a:prstGeom prst="rect">
            <a:avLst/>
          </a:prstGeom>
          <a:solidFill>
            <a:srgbClr val="F5A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3DBFA"/>
                </a:solidFill>
                <a:latin typeface="Mulish"/>
              </a:rPr>
              <a:t>Sign by 17 July to lock $264,000 → Feb 2027 go-live.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FC2F2"/>
                </a:solidFill>
                <a:latin typeface="Mulish"/>
              </a:rPr>
              <a:t>BrazeAI Decisioning Studio™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