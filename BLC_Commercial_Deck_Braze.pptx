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3771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54" y="233172"/>
            <a:ext cx="737937" cy="315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680210"/>
            <a:ext cx="6515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spc="240">
                <a:solidFill>
                  <a:srgbClr val="FFA524"/>
                </a:solidFill>
                <a:latin typeface="Arial"/>
              </a:rPr>
              <a:t>AI DECISIONING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" y="1988819"/>
            <a:ext cx="7818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01ED7"/>
                </a:solidFill>
                <a:latin typeface="Arial"/>
              </a:rPr>
              <a:t>Commercials for Blue Light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983229"/>
            <a:ext cx="1508760" cy="4114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54679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>
                <a:solidFill>
                  <a:srgbClr val="555266"/>
                </a:solidFill>
                <a:latin typeface="Arial"/>
              </a:rPr>
              <a:t>Year-one investment, cost structure &amp; path to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29150"/>
            <a:ext cx="411480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7" b="1" i="0" spc="60">
                <a:solidFill>
                  <a:srgbClr val="8A8699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Mutual action plan to go-live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Foundations are complete. Next is commercial alignment and executive sign-off to lock the Nov 2026 implementation slot.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79" y="1261872"/>
          <a:ext cx="8318754" cy="2948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900"/>
                <a:gridCol w="4409694"/>
                <a:gridCol w="1165860"/>
                <a:gridCol w="1028700"/>
                <a:gridCol w="1371600"/>
              </a:tblGrid>
              <a:tr h="233172"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Priority use case identified — Engagement (absorbs re-engagement + cross-cat)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01ED7"/>
                          </a:solidFill>
                          <a:latin typeface="Arial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Business case &amp; impact model built (£4.37M target run-rate)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01ED7"/>
                          </a:solidFill>
                          <a:latin typeface="Arial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Data validation &amp; audience sizing (4.2M MAU)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01ED7"/>
                          </a:solidFill>
                          <a:latin typeface="Arial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Customer Readiness Assessment (CRA) — in-flight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16 Jun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FFA524"/>
                          </a:solidFill>
                          <a:latin typeface="Arial"/>
                        </a:rPr>
                        <a:t>● In flight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Commercial proposal &amp; cost structure shared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17 Jun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300266"/>
                          </a:solidFill>
                          <a:latin typeface="Arial"/>
                        </a:rPr>
                        <a:t>● Today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Lifecycle team review model &amp; price → internal alignment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 (Marie)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w/c 23 Jun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Executive review — Director of Data, CPO, Head of Engineering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w/c 23 Jun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Finance approval (if incremental budget required)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early Jul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Go / No-Go decision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by mid-Jul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Order form finalised &amp; signature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late Jul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Implementation kickoff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Braze + BLC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November 2026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1A1A24"/>
                          </a:solidFill>
                          <a:latin typeface="Arial"/>
                        </a:rPr>
                        <a:t>Go live — Engagement engine in production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Braze + BLC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0" i="0">
                          <a:solidFill>
                            <a:srgbClr val="555266"/>
                          </a:solidFill>
                          <a:latin typeface="Arial"/>
                        </a:rPr>
                        <a:t>February 2027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15" b="1" i="0">
                          <a:solidFill>
                            <a:srgbClr val="8A8699"/>
                          </a:solidFill>
                          <a:latin typeface="Arial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79" y="4251959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Arial"/>
              </a:rPr>
              <a:t>Note: BLC's current Braze contract was renewed Jan 2026 ($1M+). Decisioning Studio is net-new on top of that contract.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Arial"/>
              </a:rPr>
              <a:t>COMMERCIALS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576072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Arial"/>
              </a:rPr>
              <a:t>Year-one investment — Engagement proof of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79" y="987552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Priced at the 4M-MAU tier — sign by 17 July to lock the early-sign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79" y="1296162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79" y="1501901"/>
            <a:ext cx="4149089" cy="2708910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09" y="1707641"/>
            <a:ext cx="36690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120">
                <a:solidFill>
                  <a:srgbClr val="FFA524"/>
                </a:solidFill>
                <a:latin typeface="Arial"/>
              </a:rPr>
              <a:t>35% PARTNERSHIP DISCOUNT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09" y="1995677"/>
            <a:ext cx="3669029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D9D3FB"/>
                </a:solidFill>
                <a:latin typeface="Arial"/>
              </a:rPr>
              <a:t>List price  </a:t>
            </a:r>
            <a:r>
              <a:rPr sz="900" b="1" i="0">
                <a:solidFill>
                  <a:srgbClr val="D9D3FB"/>
                </a:solidFill>
                <a:latin typeface="Arial"/>
              </a:rPr>
              <a:t>$409,000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509" y="2221991"/>
            <a:ext cx="366902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900" b="1" i="0">
                <a:solidFill>
                  <a:srgbClr val="FFFFFF"/>
                </a:solidFill>
                <a:latin typeface="Arial"/>
              </a:rPr>
              <a:t>$264,000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226" y="2976372"/>
            <a:ext cx="3669029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A524"/>
                </a:solidFill>
                <a:latin typeface="Arial"/>
              </a:rPr>
              <a:t>USD   ≈ £200,000 /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226" y="3298698"/>
            <a:ext cx="365531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25" b="0" i="0">
                <a:solidFill>
                  <a:srgbClr val="D9D3FB"/>
                </a:solidFill>
                <a:latin typeface="Arial"/>
              </a:rPr>
              <a:t>All-in annual fee — technology subscription plus a dedicated forward-deployed AI expert team for year 1. Sign by 17 July to lock this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4890" y="1515617"/>
            <a:ext cx="389740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Arial"/>
              </a:rPr>
              <a:t>Price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8333" y="183794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Arial"/>
              </a:rPr>
              <a:t>AI Expert Services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Arial"/>
              </a:rPr>
              <a:t>forward-deployed eng.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3561" y="183794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Arial"/>
              </a:rPr>
              <a:t>$100,000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34890" y="216712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8333" y="221513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Arial"/>
              </a:rPr>
              <a:t>Use Case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Arial"/>
              </a:rPr>
              <a:t>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3561" y="221513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Arial"/>
              </a:rPr>
              <a:t>$175,000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34890" y="254431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8333" y="259232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Arial"/>
              </a:rPr>
              <a:t>Audience entitlement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Arial"/>
              </a:rPr>
              <a:t>4M-MAU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3561" y="259232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Arial"/>
              </a:rPr>
              <a:t>$134,000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34890" y="292150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8333" y="296951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555266"/>
                </a:solidFill>
                <a:latin typeface="Arial"/>
              </a:rPr>
              <a:t>List price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3561" y="296951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555266"/>
                </a:solidFill>
                <a:latin typeface="Arial"/>
              </a:rPr>
              <a:t>$409,000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34890" y="329869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8333" y="334670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FFA524"/>
                </a:solidFill>
                <a:latin typeface="Arial"/>
              </a:rPr>
              <a:t>Partnership discount (35%)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561" y="334670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A524"/>
                </a:solidFill>
                <a:latin typeface="Arial"/>
              </a:rPr>
              <a:t>–$145,000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34890" y="367588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34890" y="3675887"/>
            <a:ext cx="3897401" cy="404622"/>
          </a:xfrm>
          <a:prstGeom prst="roundRect">
            <a:avLst>
              <a:gd name="adj" fmla="val 10000"/>
            </a:avLst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8333" y="372389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01ED7"/>
                </a:solidFill>
                <a:latin typeface="Arial"/>
              </a:rPr>
              <a:t>Year-one investment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3561" y="372389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75" b="1" i="0">
                <a:solidFill>
                  <a:srgbClr val="801ED7"/>
                </a:solidFill>
                <a:latin typeface="Arial"/>
              </a:rPr>
              <a:t>$264,000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Arial"/>
              </a:rPr>
              <a:t>08 · COMMERCIAL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576072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Your cost structure, broken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79" y="1001268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One indivisible all-in fee — three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79" y="1309878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79" y="1549907"/>
            <a:ext cx="2613583" cy="202311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79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19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2" b="1" i="0">
                <a:solidFill>
                  <a:srgbClr val="801ED7"/>
                </a:solidFill>
                <a:latin typeface="Arial"/>
              </a:rPr>
              <a:t>AI Expert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Arial"/>
              </a:rPr>
              <a:t>Embedded ML experts who design, configure, tune and monitor your use case — at launch and ongoing.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5093" y="1549907"/>
            <a:ext cx="2613583" cy="202311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65093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57117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7117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0833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2" b="1" i="0">
                <a:solidFill>
                  <a:srgbClr val="801ED7"/>
                </a:solidFill>
                <a:latin typeface="Arial"/>
              </a:rPr>
              <a:t>Use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0833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Arial"/>
              </a:rPr>
              <a:t>One fully-configured, live RL use case optimised 1:1 across your audience. Additional cases are land-and-expand (~$300K each).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18707" y="1549907"/>
            <a:ext cx="2613583" cy="202311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8707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0731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0731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2" b="1" i="0">
                <a:solidFill>
                  <a:srgbClr val="801ED7"/>
                </a:solidFill>
                <a:latin typeface="Arial"/>
              </a:rPr>
              <a:t>Audience Entitlement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Arial"/>
              </a:rPr>
              <a:t>Annual entitlement on a monthly-average audience; flexes month to month and is revisited at renewal — not metered with immediate overages.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79" y="3723894"/>
            <a:ext cx="8320811" cy="589788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79" y="3723894"/>
            <a:ext cx="68580" cy="589788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19" y="3806189"/>
            <a:ext cx="7909331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62" b="1" i="0">
                <a:solidFill>
                  <a:srgbClr val="801ED7"/>
                </a:solidFill>
                <a:latin typeface="Arial"/>
              </a:rPr>
              <a:t>Commercial anchor:  </a:t>
            </a:r>
            <a:r>
              <a:rPr sz="862" b="0" i="0">
                <a:solidFill>
                  <a:srgbClr val="1A1A24"/>
                </a:solidFill>
                <a:latin typeface="Arial"/>
              </a:rPr>
              <a:t>a single, indivisible all-in fee per use case. BLC's 4.2M MAU sits at the 4M-MAU tier ($134K). Additional use cases are land-and-expand ~$300K each; audience entitlement is shared.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What your AI Expert Services team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Forward-deployed ML experts embedded alongside your team — required at launch AND for the entire life of the use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1316736"/>
            <a:ext cx="4023245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79" y="1316736"/>
            <a:ext cx="68580" cy="229743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Arial"/>
              </a:rPr>
              <a:t>At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851660"/>
            <a:ext cx="3598049" cy="16116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Design the use case: action bank, reward signal, exploration parameters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Set up the holdout and integrate your data feeds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Configure, train and tune the model; run pre-go-live testing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Stand up live reporting and agree the success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045" y="1316736"/>
            <a:ext cx="4023245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045" y="1316736"/>
            <a:ext cx="68580" cy="2297430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501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Arial"/>
              </a:rPr>
              <a:t>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501" y="1851660"/>
            <a:ext cx="3598049" cy="16116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Continuously tune the model as behaviour and seasonality shift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Monitor controls and dimensions; troubleshoot and course-correct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Add and test new dimensions, actions and creative to unlock fresh value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Quarterly reviews and expansion: value keeps compounding years in, not just at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75132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25" b="1" i="0">
                <a:solidFill>
                  <a:srgbClr val="801ED7"/>
                </a:solidFill>
                <a:latin typeface="Arial"/>
              </a:rPr>
              <a:t>One use case, one annual fee.  </a:t>
            </a:r>
            <a:r>
              <a:rPr sz="825" b="0" i="0">
                <a:solidFill>
                  <a:srgbClr val="555266"/>
                </a:solidFill>
                <a:latin typeface="Arial"/>
              </a:rPr>
              <a:t>AI Expert Services, the Use Case and Audience are three SKUs but a single, indivisible all-in price required at launch and ongoing.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How your audience is measured &amp; billed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Annual entitlement, priced on a monthly average — designed to flex, not to penalise.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1316736"/>
            <a:ext cx="4023245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79" y="1316736"/>
            <a:ext cx="68580" cy="229743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Arial"/>
              </a:rPr>
              <a:t>How it's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851660"/>
            <a:ext cx="3598049" cy="16116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Measured daily — audience size tracked every day, per use case</a:t>
            </a:r>
          </a:p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Calculated as a monthly average — averaged over the year to give the audience size</a:t>
            </a:r>
          </a:p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Charged annually — that average monthly audience is charged once a year; runs over and under with seasonality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045" y="1316736"/>
            <a:ext cx="4023245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045" y="1316736"/>
            <a:ext cx="68580" cy="2297430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501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Arial"/>
              </a:rPr>
              <a:t>How it's billed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501" y="1851660"/>
            <a:ext cx="3598049" cy="16116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Annual entitlement — invoiced annually, not a monthly charge</a:t>
            </a:r>
          </a:p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Not like message credits — no immediate overage when a month runs high</a:t>
            </a:r>
          </a:p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Right-sized at renewal — we review and reset the tier together</a:t>
            </a:r>
          </a:p>
          <a:p>
            <a:pPr algn="l">
              <a:lnSpc>
                <a:spcPct val="116000"/>
              </a:lnSpc>
              <a:spcAft>
                <a:spcPts val="525"/>
              </a:spcAft>
            </a:pPr>
            <a:r>
              <a:rPr sz="900" b="1" i="0">
                <a:solidFill>
                  <a:srgbClr val="FFA524"/>
                </a:solidFill>
                <a:latin typeface="Arial"/>
              </a:rPr>
              <a:t>•  </a:t>
            </a:r>
            <a:r>
              <a:rPr sz="862" b="0" i="0">
                <a:solidFill>
                  <a:srgbClr val="555266"/>
                </a:solidFill>
                <a:latin typeface="Arial"/>
              </a:rPr>
              <a:t>Standard policy — overages (1.25× rate) only if you run materially above,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75132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25" b="1" i="0">
                <a:solidFill>
                  <a:srgbClr val="801ED7"/>
                </a:solidFill>
                <a:latin typeface="Arial"/>
              </a:rPr>
              <a:t>Built-in headroom:  </a:t>
            </a:r>
            <a:r>
              <a:rPr sz="825" b="0" i="0">
                <a:solidFill>
                  <a:srgbClr val="555266"/>
                </a:solidFill>
                <a:latin typeface="Arial"/>
              </a:rPr>
              <a:t>your 4M tier sits at the audience level of BLC's 4.2M MAU base — comfortable for normal seasonality.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Arial"/>
              </a:rPr>
              <a:t>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576072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Arial"/>
              </a:rPr>
              <a:t>Engagement — path to ROI, month by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79" y="987552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Cumulative incremental value clears break-even by May 2027, inside Year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79" y="1296162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45770" y="2987654"/>
            <a:ext cx="8252231" cy="12344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770" y="2781914"/>
            <a:ext cx="27432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FFA524"/>
                </a:solidFill>
                <a:latin typeface="Arial"/>
              </a:rPr>
              <a:t>Break-even · $264k subscription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814" y="337413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4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Nov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500" y="337413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340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Dec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6186" y="337413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49026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Jan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3872" y="3342286"/>
            <a:ext cx="357596" cy="52423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1002" y="3163978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6712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Feb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61558" y="3237438"/>
            <a:ext cx="357596" cy="157271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58688" y="3059130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0.4×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4398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Mar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49244" y="3078625"/>
            <a:ext cx="357596" cy="316084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6374" y="2900317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0.8×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2084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Apr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6930" y="2868930"/>
            <a:ext cx="357596" cy="52578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4060" y="2690622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1.3×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770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May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24616" y="2659234"/>
            <a:ext cx="357596" cy="735475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21746" y="2480926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1.8×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7456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Jun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12302" y="2447997"/>
            <a:ext cx="357596" cy="946712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09432" y="2269689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75142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Jul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99988" y="2238302"/>
            <a:ext cx="357596" cy="1156407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7118" y="2059994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2.8×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2828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Aug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87674" y="2027065"/>
            <a:ext cx="357596" cy="1367644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84804" y="1848757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3.4×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50514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Sep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75360" y="1817370"/>
            <a:ext cx="357596" cy="1577339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72490" y="1639062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Arial"/>
              </a:rPr>
              <a:t>3.9×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38200" y="342900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Arial"/>
              </a:rPr>
              <a:t>Oct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Arial"/>
              </a:rPr>
              <a:t>M12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5770" y="3394710"/>
            <a:ext cx="825223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411479" y="3819906"/>
          <a:ext cx="8320806" cy="658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250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</a:tblGrid>
              <a:tr h="164592"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1A1A24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M3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M4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M5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M6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M7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M8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M9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M10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M11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Arial"/>
                        </a:rPr>
                        <a:t>M12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Value / mo</a:t>
                      </a:r>
                    </a:p>
                  </a:txBody>
                  <a:tcPr anchor="ctr" marL="41148" marR="13716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$34k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$68k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$102k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Arial"/>
                        </a:rPr>
                        <a:t>$136k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ROI</a:t>
                      </a:r>
                    </a:p>
                  </a:txBody>
                  <a:tcPr anchor="ctr" marL="41148" marR="13716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0.1×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0.4×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0.8×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1.3×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1.8×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2.3×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2.8×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3.4×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Arial"/>
                        </a:rPr>
                        <a:t>3.9×</a:t>
                      </a:r>
                    </a:p>
                  </a:txBody>
                  <a:tcPr anchor="ctr" marL="13716" marR="13716" marT="0" marB="0">
                    <a:solidFill>
                      <a:srgbClr val="FAF9FE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Cost / mo</a:t>
                      </a:r>
                    </a:p>
                  </a:txBody>
                  <a:tcPr anchor="ctr" marL="41148" marR="13716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411479" y="476631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Arial"/>
              </a:rPr>
              <a:t>Cumulative value in USD at the target lift ($1.64M annual run-rate ÷ 12 ≈ $136k/month). Audience ramps 25%→50%→75%→100% across Feb–May 2027. ROI vs $264k early-sign subscription; at $317k standard rate, year-end ROI is 3.2×. FX £1 = $1.32 (30 Jun 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ROI compounds as the model trains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Year-1 ramps to full run-rate; the subscription stays flat (Engagement · Target)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79" y="1330452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Arial"/>
              </a:rPr>
              <a:t>Year 1  (ramp)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19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1A1A24"/>
                </a:solidFill>
                <a:latin typeface="Arial"/>
              </a:rPr>
              <a:t>$1.09M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Arial"/>
              </a:rPr>
              <a:t>≈ £825,000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555266"/>
                </a:solidFill>
                <a:latin typeface="Arial"/>
              </a:rPr>
              <a:t>In-year 2027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555266"/>
                </a:solidFill>
                <a:latin typeface="Arial"/>
              </a:rPr>
              <a:t>Feb go-live, partial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5093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4549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Arial"/>
              </a:rPr>
              <a:t>Year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0833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FFFFFF"/>
                </a:solidFill>
                <a:latin typeface="Arial"/>
              </a:rPr>
              <a:t>$1.64M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1407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Arial"/>
              </a:rPr>
              <a:t>≈ £1.24M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1407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D9D3FB"/>
                </a:solidFill>
                <a:latin typeface="Arial"/>
              </a:rPr>
              <a:t>Full run-rate incremental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D9D3FB"/>
                </a:solidFill>
                <a:latin typeface="Arial"/>
              </a:rPr>
              <a:t>value over BAU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18707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18707" y="1330452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8163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Arial"/>
              </a:rPr>
              <a:t>Year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1A1A24"/>
                </a:solidFill>
                <a:latin typeface="Arial"/>
              </a:rPr>
              <a:t>$1.64M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021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Arial"/>
              </a:rPr>
              <a:t>≈ £1.24M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021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555266"/>
                </a:solidFill>
                <a:latin typeface="Arial"/>
              </a:rPr>
              <a:t>Full run-rate continues;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555266"/>
                </a:solidFill>
                <a:latin typeface="Arial"/>
              </a:rPr>
              <a:t>subscription 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79" y="3230118"/>
            <a:ext cx="2613583" cy="630936"/>
          </a:xfrm>
          <a:prstGeom prst="roundRect">
            <a:avLst>
              <a:gd name="adj" fmla="val 6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19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Arial"/>
              </a:rPr>
              <a:t>$264,000   </a:t>
            </a:r>
            <a:r>
              <a:rPr sz="787" b="0" i="0">
                <a:solidFill>
                  <a:srgbClr val="555266"/>
                </a:solidFill>
                <a:latin typeface="Arial"/>
              </a:rPr>
              <a:t>Subscription · year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5093" y="3230118"/>
            <a:ext cx="2613583" cy="630936"/>
          </a:xfrm>
          <a:prstGeom prst="roundRect">
            <a:avLst>
              <a:gd name="adj" fmla="val 6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0833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Arial"/>
              </a:rPr>
              <a:t>4.1×   </a:t>
            </a:r>
            <a:r>
              <a:rPr sz="787" b="0" i="0">
                <a:solidFill>
                  <a:srgbClr val="555266"/>
                </a:solidFill>
                <a:latin typeface="Arial"/>
              </a:rPr>
              <a:t>Year 1 ROI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18707" y="3230118"/>
            <a:ext cx="2613583" cy="630936"/>
          </a:xfrm>
          <a:prstGeom prst="roundRect">
            <a:avLst>
              <a:gd name="adj" fmla="val 6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4447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Arial"/>
              </a:rPr>
              <a:t>6.2×   </a:t>
            </a:r>
            <a:r>
              <a:rPr sz="787" b="0" i="0">
                <a:solidFill>
                  <a:srgbClr val="555266"/>
                </a:solidFill>
                <a:latin typeface="Arial"/>
              </a:rPr>
              <a:t>Year 2 / 3 ROI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476631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Arial"/>
              </a:rPr>
              <a:t>ROI = annual incremental value ÷ year-1 subscription. Shown at $264k early-sign rate. At $317k standard rate (after 17 July): Year 1 = 3.4×, Year 2/3 = 5.2×. Low case ($493k run-rate): Year 2 ROI 1.9× / 1.6×. RL models improve at maximising the reward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Arial"/>
              </a:rPr>
              <a:t>How we get to 2.3× ROI by July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ROI multiple = cumulative incremental value to date ÷ annual subscription. Build, month by month.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1316736"/>
            <a:ext cx="8320811" cy="425196"/>
          </a:xfrm>
          <a:prstGeom prst="roundRect">
            <a:avLst>
              <a:gd name="adj" fmla="val 6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19" y="1316736"/>
            <a:ext cx="7909331" cy="4251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Arial"/>
              </a:rPr>
              <a:t>ROI multiple   =   </a:t>
            </a:r>
            <a:r>
              <a:rPr sz="975" b="0" i="0">
                <a:solidFill>
                  <a:srgbClr val="1A1A24"/>
                </a:solidFill>
                <a:latin typeface="Arial"/>
              </a:rPr>
              <a:t>cumulative incremental value to date   ÷   annual subscription ($264,000)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79" y="1899666"/>
          <a:ext cx="8320806" cy="8641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8730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Month</a:t>
                      </a:r>
                    </a:p>
                  </a:txBody>
                  <a:tcPr anchor="ctr" marL="54864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Nov M1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Dec M2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Jan M3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Feb M4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Mar M5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Apr M6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May M7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Jun M8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Arial"/>
                        </a:rPr>
                        <a:t>Jul M9</a:t>
                      </a:r>
                    </a:p>
                  </a:txBody>
                  <a:tcPr anchor="ctr" marL="13716" marR="13716">
                    <a:solidFill>
                      <a:srgbClr val="801ED7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Value that month</a:t>
                      </a:r>
                    </a:p>
                  </a:txBody>
                  <a:tcPr anchor="ctr" marL="54864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$32k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$65k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$97k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$129k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$129k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Arial"/>
                        </a:rPr>
                        <a:t>$129k</a:t>
                      </a:r>
                    </a:p>
                  </a:txBody>
                  <a:tcPr anchor="ctr" marL="13716" marR="13716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Cumulative value</a:t>
                      </a:r>
                    </a:p>
                  </a:txBody>
                  <a:tcPr anchor="ctr" marL="54864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$32k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$97k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$193k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$323k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$451k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Arial"/>
                        </a:rPr>
                        <a:t>$580k</a:t>
                      </a:r>
                    </a:p>
                  </a:txBody>
                  <a:tcPr anchor="ctr" marL="13716" marR="13716">
                    <a:solidFill>
                      <a:srgbClr val="FAF9FE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1479" y="2962656"/>
            <a:ext cx="8320811" cy="685800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072384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25" b="1" i="0">
                <a:solidFill>
                  <a:srgbClr val="FFFFFF"/>
                </a:solidFill>
                <a:latin typeface="Arial"/>
              </a:rPr>
              <a:t>$614,000</a:t>
            </a:r>
            <a:r>
              <a:rPr sz="1500" b="0" i="0">
                <a:solidFill>
                  <a:srgbClr val="D9D3FB"/>
                </a:solidFill>
                <a:latin typeface="Arial"/>
              </a:rPr>
              <a:t>   ÷   </a:t>
            </a:r>
            <a:r>
              <a:rPr sz="1725" b="1" i="0">
                <a:solidFill>
                  <a:srgbClr val="FFFFFF"/>
                </a:solidFill>
                <a:latin typeface="Arial"/>
              </a:rPr>
              <a:t>$264,000</a:t>
            </a:r>
            <a:r>
              <a:rPr sz="1500" b="0" i="0">
                <a:solidFill>
                  <a:srgbClr val="D9D3FB"/>
                </a:solidFill>
                <a:latin typeface="Arial"/>
              </a:rPr>
              <a:t>   =   </a:t>
            </a:r>
            <a:r>
              <a:rPr sz="1950" b="1" i="0">
                <a:solidFill>
                  <a:srgbClr val="FFA524"/>
                </a:solidFill>
                <a:latin typeface="Arial"/>
              </a:rPr>
              <a:t>2.3×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15284"/>
            <a:ext cx="832081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D9D3FB"/>
                </a:solidFill>
                <a:latin typeface="Arial"/>
              </a:rPr>
              <a:t>cumulative value to July 2027 (month 9)   ÷   annual subscription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480060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Arial"/>
              </a:rPr>
              <a:t>Run-rate value is $136,000/month (≈£103,000) ($1.64M target ÷ 12 — engagement use case, 27 May model). ROI shown at $264k early-sign price; at $317k standard rate, July 2027 ROI is 1.9×. Audience ramps 25%/50%/75% over Feb–Apr 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79" y="342900"/>
            <a:ext cx="8183651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Arial"/>
              </a:rPr>
              <a:t>Cumulative cost vs. value — and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754380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Arial"/>
              </a:rPr>
              <a:t>Value compounds while the subscription accrues evenly — break-even May 2027, 3.9× year-end at the early-sign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79" y="1062990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79" y="1275588"/>
          <a:ext cx="8320806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2990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</a:tblGrid>
              <a:tr h="233172"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1A1A24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13716" marR="13716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Nov M1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Dec M2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Jan M3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Feb M4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Mar M5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Apr M6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May M7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Jun M8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Jul M9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Aug M10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Sep M11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Arial"/>
                        </a:rPr>
                        <a:t>Oct M12</a:t>
                      </a:r>
                    </a:p>
                  </a:txBody>
                  <a:tcPr anchor="ctr" marL="13716" marR="13716" marT="0" marB="0">
                    <a:solidFill>
                      <a:srgbClr val="801ED7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Cum. value</a:t>
                      </a:r>
                    </a:p>
                  </a:txBody>
                  <a:tcPr anchor="ctr" marL="4114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$34k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$102k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$205k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$341k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$477k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$614k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$750k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$887k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Arial"/>
                        </a:rPr>
                        <a:t>$1,023k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Cum. cost</a:t>
                      </a:r>
                    </a:p>
                  </a:txBody>
                  <a:tcPr anchor="ctr" marL="4114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$22k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$44k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$66k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$88k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$110k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$132k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$154k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$176k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$198k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$220k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$242k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Arial"/>
                        </a:rPr>
                        <a:t>$264k</a:t>
                      </a:r>
                    </a:p>
                  </a:txBody>
                  <a:tcPr anchor="ctr" marL="6858" marR="6858" marT="0" marB="0">
                    <a:solidFill>
                      <a:srgbClr val="FAF9FE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Arial"/>
                        </a:rPr>
                        <a:t>ROI ×</a:t>
                      </a:r>
                    </a:p>
                  </a:txBody>
                  <a:tcPr anchor="ctr" marL="4114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0.1×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0.4×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0.8×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1.3×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1.8×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2.3×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2.8×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3.4×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Arial"/>
                        </a:rPr>
                        <a:t>3.9×</a:t>
                      </a:r>
                    </a:p>
                  </a:txBody>
                  <a:tcPr anchor="ctr" marL="6858" marR="685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11479" y="2544318"/>
            <a:ext cx="2636443" cy="8092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79" y="2544318"/>
            <a:ext cx="61722" cy="809244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Arial"/>
              </a:rPr>
              <a:t>BREAK-EVEN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Arial"/>
              </a:rPr>
              <a:t>May 2027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Arial"/>
              </a:rPr>
              <a:t>Month 7 — cum value crosses $264k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3663" y="2544318"/>
            <a:ext cx="2636443" cy="8092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53663" y="2544318"/>
            <a:ext cx="61722" cy="809244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5687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Arial"/>
              </a:rPr>
              <a:t>YEAR-END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Arial"/>
              </a:rPr>
              <a:t>3.9× ROI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Arial"/>
              </a:rPr>
              <a:t>$1.02M cum value ÷ $264k subscription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7" y="2544318"/>
            <a:ext cx="2636443" cy="8092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5847" y="2544318"/>
            <a:ext cx="61722" cy="809244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7871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Arial"/>
              </a:rPr>
              <a:t>YEAR 2 / 3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Arial"/>
              </a:rPr>
              <a:t>6.2× ROI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Arial"/>
              </a:rPr>
              <a:t>$1.64M run-rate ÷ $264k subscription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3449574"/>
            <a:ext cx="8320811" cy="507491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509" y="3449574"/>
            <a:ext cx="7840751" cy="5074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 spc="100">
                <a:solidFill>
                  <a:srgbClr val="FFA524"/>
                </a:solidFill>
                <a:latin typeface="Arial"/>
              </a:rPr>
              <a:t>THE ASK TODAY    </a:t>
            </a:r>
            <a:r>
              <a:rPr sz="937" b="1" i="0">
                <a:solidFill>
                  <a:srgbClr val="FFFFFF"/>
                </a:solidFill>
                <a:latin typeface="Arial"/>
              </a:rPr>
              <a:t>Sign order form by 17 July to lock $264,000 → November 2026 kickoff → February 2027 go-live.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149089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Arial"/>
              </a:rPr>
              <a:t>All values in USD. Cum. value is incremental over BAU at the target lift (4.2M MAU × 20% × £3.00/conv × 5.1% lift = $1.64M annual run-rate). Cost shown linearly at $22k/mo. ROI at $264k early-sign; at $317k standard rate: year-end 3.2×, Year 2+ 5.2×. FX £1 = $1.32 (Morningstar, 30 Jun 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EF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33772"/>
            <a:ext cx="9143771" cy="10972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186" y="233172"/>
            <a:ext cx="802105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54530"/>
            <a:ext cx="7886700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50" b="1" i="0">
                <a:solidFill>
                  <a:srgbClr val="801ED7"/>
                </a:solidFill>
                <a:latin typeface="Arial"/>
              </a:rPr>
              <a:t>Let’s lock the November slot.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708910"/>
            <a:ext cx="1508760" cy="4114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75438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>
                <a:solidFill>
                  <a:srgbClr val="555266"/>
                </a:solidFill>
                <a:latin typeface="Arial"/>
              </a:rPr>
              <a:t>Sign by 17 July to lock $264,000 → Feb 2027 go-live.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29150"/>
            <a:ext cx="480060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7" b="0" i="0">
                <a:solidFill>
                  <a:srgbClr val="8A8699"/>
                </a:solidFill>
                <a:latin typeface="Arial"/>
              </a:rPr>
              <a:t>BrazeAI Decisioning Studio™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